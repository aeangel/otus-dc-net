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75" r:id="rId11"/>
    <p:sldId id="276" r:id="rId12"/>
    <p:sldId id="277" r:id="rId13"/>
    <p:sldId id="278" r:id="rId14"/>
    <p:sldId id="279" r:id="rId15"/>
    <p:sldId id="265" r:id="rId16"/>
    <p:sldId id="280" r:id="rId17"/>
    <p:sldId id="26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6284A0-B14C-4C2D-B731-6C7B5FDCEEF5}">
  <a:tblStyle styleId="{E96284A0-B14C-4C2D-B731-6C7B5FDCEE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141" d="100"/>
          <a:sy n="141" d="100"/>
        </p:scale>
        <p:origin x="144" y="512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7f5ce68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7f5ce68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629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A7DDF5E-B47F-247C-65F2-93BFEB47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>
            <a:extLst>
              <a:ext uri="{FF2B5EF4-FFF2-40B4-BE49-F238E27FC236}">
                <a16:creationId xmlns:a16="http://schemas.microsoft.com/office/drawing/2014/main" id="{52D57269-0A4D-29BC-D9E7-C48E804F7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>
            <a:extLst>
              <a:ext uri="{FF2B5EF4-FFF2-40B4-BE49-F238E27FC236}">
                <a16:creationId xmlns:a16="http://schemas.microsoft.com/office/drawing/2014/main" id="{51675712-E8E3-D7C1-CB65-BED042FB9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856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E538DBDF-6BDF-7D1F-8EB6-701A17CB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>
            <a:extLst>
              <a:ext uri="{FF2B5EF4-FFF2-40B4-BE49-F238E27FC236}">
                <a16:creationId xmlns:a16="http://schemas.microsoft.com/office/drawing/2014/main" id="{D68479CD-EA53-8197-4BBB-C10586F33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>
            <a:extLst>
              <a:ext uri="{FF2B5EF4-FFF2-40B4-BE49-F238E27FC236}">
                <a16:creationId xmlns:a16="http://schemas.microsoft.com/office/drawing/2014/main" id="{DF75EC9C-03FF-F433-C41D-5EDCA8996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31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162ABD1-1484-1491-31A4-AC252CDB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>
            <a:extLst>
              <a:ext uri="{FF2B5EF4-FFF2-40B4-BE49-F238E27FC236}">
                <a16:creationId xmlns:a16="http://schemas.microsoft.com/office/drawing/2014/main" id="{210C12E0-C181-286B-9685-5DB039160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>
            <a:extLst>
              <a:ext uri="{FF2B5EF4-FFF2-40B4-BE49-F238E27FC236}">
                <a16:creationId xmlns:a16="http://schemas.microsoft.com/office/drawing/2014/main" id="{BA83AECB-D17B-AFFF-B8EC-3FD6F78F0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7952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C6BB770-904D-EA2B-F8E5-EC88E626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>
            <a:extLst>
              <a:ext uri="{FF2B5EF4-FFF2-40B4-BE49-F238E27FC236}">
                <a16:creationId xmlns:a16="http://schemas.microsoft.com/office/drawing/2014/main" id="{E2FE1753-6BB7-14D0-9191-A560A66298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>
            <a:extLst>
              <a:ext uri="{FF2B5EF4-FFF2-40B4-BE49-F238E27FC236}">
                <a16:creationId xmlns:a16="http://schemas.microsoft.com/office/drawing/2014/main" id="{48297052-6123-7BC6-2D95-2A0A9D749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804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B217B741-2179-287D-6A12-7D020593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>
            <a:extLst>
              <a:ext uri="{FF2B5EF4-FFF2-40B4-BE49-F238E27FC236}">
                <a16:creationId xmlns:a16="http://schemas.microsoft.com/office/drawing/2014/main" id="{827BB7FA-2DB1-C008-13D9-77A1BBF40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>
            <a:extLst>
              <a:ext uri="{FF2B5EF4-FFF2-40B4-BE49-F238E27FC236}">
                <a16:creationId xmlns:a16="http://schemas.microsoft.com/office/drawing/2014/main" id="{70189ABE-52AE-D09F-27A7-2C71B7EFC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79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0039BA7-6D7F-62F2-C433-1659B80A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>
            <a:extLst>
              <a:ext uri="{FF2B5EF4-FFF2-40B4-BE49-F238E27FC236}">
                <a16:creationId xmlns:a16="http://schemas.microsoft.com/office/drawing/2014/main" id="{1AE5BBDC-E2A8-87AB-27E0-0A985712B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>
            <a:extLst>
              <a:ext uri="{FF2B5EF4-FFF2-40B4-BE49-F238E27FC236}">
                <a16:creationId xmlns:a16="http://schemas.microsoft.com/office/drawing/2014/main" id="{5AC02659-42F3-4A9A-EAB1-E8F35EF81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596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Дизайн сетей ЦОД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>
                <a:latin typeface="Calibri" panose="020F0502020204030204" pitchFamily="34" charset="0"/>
                <a:cs typeface="Calibri" panose="020F0502020204030204" pitchFamily="34" charset="0"/>
              </a:rPr>
              <a:t>Тема: </a:t>
            </a: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Использование 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netlab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при обучении и проектировании сетей</a:t>
            </a:r>
            <a:b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ru-RU" sz="3000" b="1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>
                <a:latin typeface="Roboto"/>
                <a:ea typeface="Roboto"/>
                <a:cs typeface="Roboto"/>
                <a:sym typeface="Roboto"/>
              </a:rPr>
              <a:t>Клепча</a:t>
            </a: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 Дмитрий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Начальник отдела развития сетевой инфраструктуры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Roboto"/>
                <a:ea typeface="Roboto"/>
                <a:cs typeface="Roboto"/>
                <a:sym typeface="Roboto"/>
              </a:rPr>
              <a:t>ООО «Белорусские облачные технологии»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www.becloud.by</a:t>
            </a:r>
            <a:endParaRPr lang="ru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технологии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</a:t>
            </a: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-RU" sz="13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получилось</a:t>
            </a:r>
            <a:endParaRPr lang="ru-RU"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>
            <a:stCxn id="95" idx="1"/>
            <a:endCxn id="96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>
            <a:stCxn id="96" idx="1"/>
            <a:endCxn id="97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1378736" y="38233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проекта</a:t>
            </a:r>
            <a:endParaRPr dirty="0"/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2243092565"/>
              </p:ext>
            </p:extLst>
          </p:nvPr>
        </p:nvGraphicFramePr>
        <p:xfrm>
          <a:off x="874256" y="1343472"/>
          <a:ext cx="7268179" cy="1483584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91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6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4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Подтвердить возможность выполнить все лабораторные на курсе с использованием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netlab</a:t>
                      </a: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 Освоить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IaC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подход.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Рассказать о продукте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netlab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7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Провести сравнение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netlab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 </a:t>
                      </a: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аналогичными средами -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pnet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eve-ng</a:t>
                      </a:r>
                      <a:endParaRPr lang="ru-RU"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390107"/>
              </p:ext>
            </p:extLst>
          </p:nvPr>
        </p:nvGraphicFramePr>
        <p:xfrm>
          <a:off x="874255" y="2827056"/>
          <a:ext cx="7268179" cy="961138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91398">
                  <a:extLst>
                    <a:ext uri="{9D8B030D-6E8A-4147-A177-3AD203B41FA5}">
                      <a16:colId xmlns:a16="http://schemas.microsoft.com/office/drawing/2014/main" val="2930886640"/>
                    </a:ext>
                  </a:extLst>
                </a:gridCol>
                <a:gridCol w="6776781">
                  <a:extLst>
                    <a:ext uri="{9D8B030D-6E8A-4147-A177-3AD203B41FA5}">
                      <a16:colId xmlns:a16="http://schemas.microsoft.com/office/drawing/2014/main" val="2236070888"/>
                    </a:ext>
                  </a:extLst>
                </a:gridCol>
              </a:tblGrid>
              <a:tr h="9611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Составить 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quick-guide 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для быстрого ознакомления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dirty="0">
                        <a:latin typeface="Calibri" panose="020F0502020204030204" pitchFamily="34" charset="0"/>
                        <a:ea typeface="Roboto"/>
                        <a:cs typeface="Calibri" panose="020F0502020204030204" pitchFamily="34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334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1355772" y="50192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Что планировалось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3765514623"/>
              </p:ext>
            </p:extLst>
          </p:nvPr>
        </p:nvGraphicFramePr>
        <p:xfrm>
          <a:off x="952500" y="1544194"/>
          <a:ext cx="7239000" cy="1203168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Сдать все практические работы используя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netlab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основе работ сверстать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gitbook</a:t>
                      </a: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quick-guide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Рассказать о продукте и возможностях его использования</a:t>
                      </a:r>
                      <a:endParaRPr lang="en-US"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44477"/>
              </p:ext>
            </p:extLst>
          </p:nvPr>
        </p:nvGraphicFramePr>
        <p:xfrm>
          <a:off x="952500" y="2747362"/>
          <a:ext cx="7239000" cy="681472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3582027046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98756987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pull request </a:t>
                      </a: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изменениям сделанным в ходе выполнения практических работ</a:t>
                      </a:r>
                      <a:endParaRPr lang="en-US"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961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1460218" y="647595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Используемые технологии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1915680924"/>
              </p:ext>
            </p:extLst>
          </p:nvPr>
        </p:nvGraphicFramePr>
        <p:xfrm>
          <a:off x="952500" y="1544194"/>
          <a:ext cx="7239000" cy="1604224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lang="ru-RU"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Платформы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Netlab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containerlab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Инструменты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netlab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edgeshark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graphite 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Устройства – 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Arista(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vEOS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), FRR,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linux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(alpine)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IaC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инструменты - 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Docker, git, </a:t>
                      </a:r>
                      <a:r>
                        <a:rPr lang="en-US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gitbook</a:t>
                      </a:r>
                      <a:r>
                        <a:rPr lang="en-U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Ansible, ssh tunneling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1713714" y="6566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Что такое </a:t>
            </a:r>
            <a:r>
              <a:rPr lang="en-US" dirty="0" err="1"/>
              <a:t>Netlab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BF416-45DB-F89B-722E-561CD1464331}"/>
              </a:ext>
            </a:extLst>
          </p:cNvPr>
          <p:cNvSpPr txBox="1">
            <a:spLocks/>
          </p:cNvSpPr>
          <p:nvPr/>
        </p:nvSpPr>
        <p:spPr>
          <a:xfrm>
            <a:off x="844582" y="1752549"/>
            <a:ext cx="8299418" cy="3581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Инструмент по созданию сетевых лабораторных стендов без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GUI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 использованием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infrastructure-as-code 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подхода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Запуск настоящих образов устройств в контейнерах и виртуальных машинах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Шаблонные конфигурации устройств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Автоматизация разворачивания, донастройки и тестирования любых элементов стенда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Вендоронезависимые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конфигурации (в пределах поддерживаемых образов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FRR, Arista, Cumulus,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VyOS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Sonic,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JunOS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Nokia SR, Dell, Bird, Cisco IOS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1433057" y="792451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Основные термины </a:t>
            </a:r>
            <a:r>
              <a:rPr lang="en-US" dirty="0" err="1"/>
              <a:t>Netlab</a:t>
            </a:r>
            <a:br>
              <a:rPr lang="en-US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topology (YAML) —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декларация нод и линков</a:t>
            </a:r>
            <a:b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node —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логическая сущность (устройство)</a:t>
            </a:r>
            <a:b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image/kind —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образ ноды (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container/</a:t>
            </a:r>
            <a:r>
              <a:rPr lang="en-US" sz="1600" b="0" dirty="0" err="1">
                <a:latin typeface="Calibri" panose="020F0502020204030204" pitchFamily="34" charset="0"/>
                <a:cs typeface="Calibri" panose="020F0502020204030204" pitchFamily="34" charset="0"/>
              </a:rPr>
              <a:t>vrnetlab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/VM)</a:t>
            </a:r>
            <a:b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link —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соединение интерфейсов</a:t>
            </a:r>
            <a:b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role —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семантика ноды (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spine, leaf, edge)</a:t>
            </a:r>
            <a:b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template (Jinja2) —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стартовый конфиг</a:t>
            </a:r>
            <a:b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•  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provider — backend (</a:t>
            </a:r>
            <a:r>
              <a:rPr lang="en-US" sz="1600" b="0" dirty="0" err="1">
                <a:latin typeface="Calibri" panose="020F0502020204030204" pitchFamily="34" charset="0"/>
                <a:cs typeface="Calibri" panose="020F0502020204030204" pitchFamily="34" charset="0"/>
              </a:rPr>
              <a:t>clab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b="0" dirty="0" err="1">
                <a:latin typeface="Calibri" panose="020F0502020204030204" pitchFamily="34" charset="0"/>
                <a:cs typeface="Calibri" panose="020F0502020204030204" pitchFamily="34" charset="0"/>
              </a:rPr>
              <a:t>vrnetlab</a:t>
            </a:r>
            <a:r>
              <a:rPr 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b="0" dirty="0">
                <a:latin typeface="Calibri" panose="020F0502020204030204" pitchFamily="34" charset="0"/>
                <a:cs typeface="Calibri" panose="020F0502020204030204" pitchFamily="34" charset="0"/>
              </a:rPr>
              <a:t>и т.д.)</a:t>
            </a:r>
            <a:br>
              <a:rPr lang="ru-RU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0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AE46F24B-14D7-0CA8-DAD7-FDBAEB95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>
            <a:extLst>
              <a:ext uri="{FF2B5EF4-FFF2-40B4-BE49-F238E27FC236}">
                <a16:creationId xmlns:a16="http://schemas.microsoft.com/office/drawing/2014/main" id="{A32C8AFC-A1BA-40E0-A259-2729E3F63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346" y="104594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Как </a:t>
            </a:r>
            <a:r>
              <a:rPr lang="en-US" dirty="0" err="1"/>
              <a:t>Netlab</a:t>
            </a:r>
            <a:r>
              <a:rPr lang="en-US" dirty="0"/>
              <a:t> </a:t>
            </a:r>
            <a:r>
              <a:rPr lang="ru-RU" dirty="0"/>
              <a:t>помогает при проектировании</a:t>
            </a:r>
            <a:br>
              <a:rPr lang="ru-RU" dirty="0"/>
            </a:br>
            <a:br>
              <a:rPr lang="ru-RU" dirty="0"/>
            </a:b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600" b="0" dirty="0"/>
              <a:t>•  Быстрая валидация архитектуры</a:t>
            </a:r>
            <a:br>
              <a:rPr lang="ru-RU" sz="1600" b="0" dirty="0"/>
            </a:br>
            <a:r>
              <a:rPr lang="ru-RU" sz="1600" b="0" dirty="0"/>
              <a:t>•  Тестирование отказоустойчивости и </a:t>
            </a:r>
            <a:r>
              <a:rPr lang="en-US" sz="1600" b="0" dirty="0"/>
              <a:t>failover</a:t>
            </a:r>
            <a:br>
              <a:rPr lang="en-US" sz="1600" b="0" dirty="0"/>
            </a:br>
            <a:r>
              <a:rPr lang="en-US" sz="1600" b="0" dirty="0"/>
              <a:t>•  </a:t>
            </a:r>
            <a:r>
              <a:rPr lang="ru-RU" sz="1600" b="0" dirty="0"/>
              <a:t>Проверка </a:t>
            </a:r>
            <a:r>
              <a:rPr lang="en-US" sz="1600" b="0" dirty="0"/>
              <a:t>BGP/EVPN </a:t>
            </a:r>
            <a:r>
              <a:rPr lang="ru-RU" sz="1600" b="0" dirty="0"/>
              <a:t>сценариев</a:t>
            </a:r>
            <a:br>
              <a:rPr lang="ru-RU" sz="1600" b="0" dirty="0"/>
            </a:br>
            <a:r>
              <a:rPr lang="ru-RU" sz="1600" b="0" dirty="0"/>
              <a:t>•  Адресное планирование и интеграционные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343610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86B2E9C-4C07-4FAD-14AD-7686F9ED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>
            <a:extLst>
              <a:ext uri="{FF2B5EF4-FFF2-40B4-BE49-F238E27FC236}">
                <a16:creationId xmlns:a16="http://schemas.microsoft.com/office/drawing/2014/main" id="{8623F7CE-93C8-9EEE-98D3-81095E2B9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8736" y="846771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Как </a:t>
            </a:r>
            <a:r>
              <a:rPr lang="en-US" dirty="0" err="1"/>
              <a:t>Netlab</a:t>
            </a:r>
            <a:r>
              <a:rPr lang="en-US" dirty="0"/>
              <a:t> </a:t>
            </a:r>
            <a:r>
              <a:rPr lang="ru-RU" dirty="0"/>
              <a:t>помогает в обучении</a:t>
            </a:r>
            <a:br>
              <a:rPr lang="ru-RU" dirty="0"/>
            </a:br>
            <a:br>
              <a:rPr lang="ru-RU" dirty="0"/>
            </a:br>
            <a:br>
              <a:rPr lang="ru-RU" sz="1600" dirty="0"/>
            </a:br>
            <a:r>
              <a:rPr lang="ru-RU" sz="1600" b="0" dirty="0"/>
              <a:t>•  Воспроизводимые лабораторные стенды</a:t>
            </a:r>
            <a:br>
              <a:rPr lang="ru-RU" sz="1600" b="0" dirty="0"/>
            </a:br>
            <a:r>
              <a:rPr lang="ru-RU" sz="1600" b="0" dirty="0"/>
              <a:t>•  Автоматические проверки и тесты заданий</a:t>
            </a:r>
            <a:br>
              <a:rPr lang="ru-RU" sz="1600" b="0" dirty="0"/>
            </a:br>
            <a:r>
              <a:rPr lang="ru-RU" sz="1600" b="0" dirty="0"/>
              <a:t>•  Одинаковые среды для всех студентов</a:t>
            </a:r>
            <a:br>
              <a:rPr lang="ru-RU" sz="1600" b="0" dirty="0"/>
            </a:br>
            <a:r>
              <a:rPr lang="ru-RU" sz="1600" b="0" dirty="0"/>
              <a:t>•  Обучение автоматизации конфигурации сетевого оборудования  </a:t>
            </a:r>
            <a:br>
              <a:rPr lang="ru-RU" sz="1600" b="0" dirty="0"/>
            </a:br>
            <a:r>
              <a:rPr lang="ru-RU" sz="1600" b="0" dirty="0"/>
              <a:t>•  Быстрый </a:t>
            </a:r>
            <a:r>
              <a:rPr lang="en-US" sz="1600" b="0" dirty="0"/>
              <a:t>reset / </a:t>
            </a:r>
            <a:r>
              <a:rPr lang="ru-RU" sz="1600" b="0" dirty="0"/>
              <a:t>повторный запуск</a:t>
            </a:r>
            <a:br>
              <a:rPr lang="ru-RU" sz="1600" b="0" dirty="0"/>
            </a:b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7083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6ED96851-2708-36B8-DDA9-9DAAB3BD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>
            <a:extLst>
              <a:ext uri="{FF2B5EF4-FFF2-40B4-BE49-F238E27FC236}">
                <a16:creationId xmlns:a16="http://schemas.microsoft.com/office/drawing/2014/main" id="{461EF6F7-54EE-3542-9250-96153F309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Сравнение с другими продуктами</a:t>
            </a:r>
            <a:endParaRPr lang="ru-RU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7F5D1D-91E7-B3D3-4B8A-D1B57C98D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052566"/>
              </p:ext>
            </p:extLst>
          </p:nvPr>
        </p:nvGraphicFramePr>
        <p:xfrm>
          <a:off x="389298" y="1327401"/>
          <a:ext cx="8520600" cy="2233295"/>
        </p:xfrm>
        <a:graphic>
          <a:graphicData uri="http://schemas.openxmlformats.org/drawingml/2006/table">
            <a:tbl>
              <a:tblPr firstRow="1" bandRow="1">
                <a:tableStyleId>{E96284A0-B14C-4C2D-B731-6C7B5FDCEEF5}</a:tableStyleId>
              </a:tblPr>
              <a:tblGrid>
                <a:gridCol w="1459362">
                  <a:extLst>
                    <a:ext uri="{9D8B030D-6E8A-4147-A177-3AD203B41FA5}">
                      <a16:colId xmlns:a16="http://schemas.microsoft.com/office/drawing/2014/main" val="1654581509"/>
                    </a:ext>
                  </a:extLst>
                </a:gridCol>
                <a:gridCol w="1448307">
                  <a:extLst>
                    <a:ext uri="{9D8B030D-6E8A-4147-A177-3AD203B41FA5}">
                      <a16:colId xmlns:a16="http://schemas.microsoft.com/office/drawing/2014/main" val="790035225"/>
                    </a:ext>
                  </a:extLst>
                </a:gridCol>
                <a:gridCol w="2255378">
                  <a:extLst>
                    <a:ext uri="{9D8B030D-6E8A-4147-A177-3AD203B41FA5}">
                      <a16:colId xmlns:a16="http://schemas.microsoft.com/office/drawing/2014/main" val="102700559"/>
                    </a:ext>
                  </a:extLst>
                </a:gridCol>
                <a:gridCol w="1556741">
                  <a:extLst>
                    <a:ext uri="{9D8B030D-6E8A-4147-A177-3AD203B41FA5}">
                      <a16:colId xmlns:a16="http://schemas.microsoft.com/office/drawing/2014/main" val="2489976653"/>
                    </a:ext>
                  </a:extLst>
                </a:gridCol>
                <a:gridCol w="1800812">
                  <a:extLst>
                    <a:ext uri="{9D8B030D-6E8A-4147-A177-3AD203B41FA5}">
                      <a16:colId xmlns:a16="http://schemas.microsoft.com/office/drawing/2014/main" val="1076042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Инструмент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Декларативность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Поддержка вендоров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Ресурсоёмкость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Применение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1945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Netlab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Высокая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Хорошая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Средняя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Быстрые воспроизводимые топологии, автоматизация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32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Containerlab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Высокая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Только контейнерные образы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Низкая/Средняя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container-based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топологии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4661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EVE-NG / UNetLab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Низкая/Средняя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Очень хорошая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Высокая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визуальное проектирование, широкий набор образов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938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GNS3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Низкая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Хорошая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Высокая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визуальные учебные стенды, смешанные образы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39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26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AC68F50-780C-22C8-4FE1-63574398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>
            <a:extLst>
              <a:ext uri="{FF2B5EF4-FFF2-40B4-BE49-F238E27FC236}">
                <a16:creationId xmlns:a16="http://schemas.microsoft.com/office/drawing/2014/main" id="{1CB0D724-9A09-5152-959E-431C846B0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2688" y="538953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Ограничения</a:t>
            </a:r>
            <a:br>
              <a:rPr lang="ru-RU" dirty="0"/>
            </a:br>
            <a:br>
              <a:rPr lang="ru-RU" dirty="0"/>
            </a:br>
            <a:br>
              <a:rPr lang="ru-RU" sz="1600" dirty="0"/>
            </a:br>
            <a:r>
              <a:rPr lang="ru-RU" sz="1600" b="0" dirty="0"/>
              <a:t>•  Не заменяет тестирование на физическом железе</a:t>
            </a:r>
            <a:br>
              <a:rPr lang="ru-RU" sz="1600" b="0" dirty="0"/>
            </a:br>
            <a:r>
              <a:rPr lang="ru-RU" sz="1600" b="0" dirty="0"/>
              <a:t>•  Необходимость лицензирования </a:t>
            </a:r>
            <a:r>
              <a:rPr lang="en-US" sz="1600" b="0" dirty="0"/>
              <a:t>vendor-</a:t>
            </a:r>
            <a:r>
              <a:rPr lang="ru-RU" sz="1600" b="0" dirty="0"/>
              <a:t>образов</a:t>
            </a:r>
            <a:br>
              <a:rPr lang="ru-RU" sz="1600" b="0" dirty="0"/>
            </a:br>
            <a:r>
              <a:rPr lang="ru-RU" sz="1600" b="0" dirty="0"/>
              <a:t>•  Потребление </a:t>
            </a:r>
            <a:r>
              <a:rPr lang="en-US" sz="1600" b="0" dirty="0"/>
              <a:t>CPU/RAM </a:t>
            </a:r>
            <a:r>
              <a:rPr lang="ru-RU" sz="1600" b="0" dirty="0"/>
              <a:t>по мере масштабирования</a:t>
            </a:r>
            <a:br>
              <a:rPr lang="ru-RU" sz="1600" b="0" dirty="0"/>
            </a:br>
            <a:r>
              <a:rPr lang="ru-RU" sz="1600" b="0" dirty="0"/>
              <a:t>•  Ограничения эмуляции </a:t>
            </a:r>
            <a:r>
              <a:rPr lang="en-US" sz="1600" b="0" dirty="0"/>
              <a:t>ASIC/</a:t>
            </a:r>
            <a:r>
              <a:rPr lang="ru-RU" sz="1600" b="0" dirty="0"/>
              <a:t>скоростных характеристик</a:t>
            </a:r>
            <a:br>
              <a:rPr lang="ru-RU" dirty="0"/>
            </a:b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72542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C0DF5951-9F14-5F11-1CAE-D593DB94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>
            <a:extLst>
              <a:ext uri="{FF2B5EF4-FFF2-40B4-BE49-F238E27FC236}">
                <a16:creationId xmlns:a16="http://schemas.microsoft.com/office/drawing/2014/main" id="{85B08BA9-53FC-3810-FBCA-73B1112DDE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5975" y="1743065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Демонстрация работы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685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623400" y="321671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 	Итоги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42" name="Google Shape;142;p25"/>
          <p:cNvGraphicFramePr/>
          <p:nvPr>
            <p:extLst>
              <p:ext uri="{D42A27DB-BD31-4B8C-83A1-F6EECF244321}">
                <p14:modId xmlns:p14="http://schemas.microsoft.com/office/powerpoint/2010/main" val="3011636658"/>
              </p:ext>
            </p:extLst>
          </p:nvPr>
        </p:nvGraphicFramePr>
        <p:xfrm>
          <a:off x="937158" y="1093131"/>
          <a:ext cx="7239000" cy="2346731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Все работы выполнены с использованием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netlab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. Отчеты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https://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github.com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/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aeangel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/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otus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-DC-net</a:t>
                      </a:r>
                      <a:endParaRPr sz="1600" dirty="0">
                        <a:latin typeface="Calibri" panose="020F0502020204030204" pitchFamily="34" charset="0"/>
                        <a:ea typeface="Roboto"/>
                        <a:cs typeface="Calibri" panose="020F0502020204030204" pitchFamily="34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Для быстрого входа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потенциальных пользователей подготовлен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Roboto"/>
                          <a:cs typeface="Calibri" panose="020F0502020204030204" pitchFamily="34" charset="0"/>
                          <a:sym typeface="Roboto"/>
                        </a:rPr>
                        <a:t>буклет 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https://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aeangel.gitbook.io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/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netlab_for_otus</a:t>
                      </a:r>
                      <a:endParaRPr sz="1600" dirty="0">
                        <a:latin typeface="Calibri" panose="020F0502020204030204" pitchFamily="34" charset="0"/>
                        <a:ea typeface="Roboto"/>
                        <a:cs typeface="Calibri" panose="020F0502020204030204" pitchFamily="34" charset="0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30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Остатки</a:t>
                      </a:r>
                      <a:endParaRPr sz="30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Оформить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pull request,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чего нужен доработанный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fork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пройденными тестами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141;p25">
            <a:extLst>
              <a:ext uri="{FF2B5EF4-FFF2-40B4-BE49-F238E27FC236}">
                <a16:creationId xmlns:a16="http://schemas.microsoft.com/office/drawing/2014/main" id="{58ECAEAE-4AF9-52A6-7228-E635DF37F1B3}"/>
              </a:ext>
            </a:extLst>
          </p:cNvPr>
          <p:cNvSpPr txBox="1">
            <a:spLocks/>
          </p:cNvSpPr>
          <p:nvPr/>
        </p:nvSpPr>
        <p:spPr>
          <a:xfrm>
            <a:off x="500550" y="350241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3000" dirty="0"/>
              <a:t> 	</a:t>
            </a:r>
          </a:p>
          <a:p>
            <a:endParaRPr lang="ru-RU" sz="3000" dirty="0"/>
          </a:p>
          <a:p>
            <a:endParaRPr lang="ru-RU" sz="3000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89E75C26-9E92-1250-B7B2-E7A034C6A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>
            <a:extLst>
              <a:ext uri="{FF2B5EF4-FFF2-40B4-BE49-F238E27FC236}">
                <a16:creationId xmlns:a16="http://schemas.microsoft.com/office/drawing/2014/main" id="{53050778-9BC4-6AD9-E472-B95C79A01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6603" y="2023800"/>
            <a:ext cx="3790793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Ответы на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4171816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566</Words>
  <Application>Microsoft Macintosh PowerPoint</Application>
  <PresentationFormat>On-screen Show (16:9)</PresentationFormat>
  <Paragraphs>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Narrow</vt:lpstr>
      <vt:lpstr>Arial</vt:lpstr>
      <vt:lpstr>Calibri</vt:lpstr>
      <vt:lpstr>Courier New</vt:lpstr>
      <vt:lpstr>Roboto</vt:lpstr>
      <vt:lpstr>Светлая тема</vt:lpstr>
      <vt:lpstr>Дизайн сетей ЦОД </vt:lpstr>
      <vt:lpstr>Меня хорошо видно &amp; слышно?</vt:lpstr>
      <vt:lpstr>Защита проекта Тема: Использование netlab при обучении и проектировании сетей    </vt:lpstr>
      <vt:lpstr>План защиты </vt:lpstr>
      <vt:lpstr>Цели проекта</vt:lpstr>
      <vt:lpstr>Что планировалось </vt:lpstr>
      <vt:lpstr>Используемые технологии  </vt:lpstr>
      <vt:lpstr>Что такое Netlab  </vt:lpstr>
      <vt:lpstr>Основные термины Netlab   •  topology (YAML) — декларация нод и линков •  node — логическая сущность (устройство) •  image/kind — образ ноды (container/vrnetlab/VM) •  link — соединение интерфейсов •  role — семантика ноды (spine, leaf, edge) •  template (Jinja2) — стартовый конфиг •  provider — backend (clab, vrnetlab и т.д.) </vt:lpstr>
      <vt:lpstr>Как Netlab помогает при проектировании   •  Быстрая валидация архитектуры •  Тестирование отказоустойчивости и failover •  Проверка BGP/EVPN сценариев •  Адресное планирование и интеграционные проверки</vt:lpstr>
      <vt:lpstr>Как Netlab помогает в обучении   •  Воспроизводимые лабораторные стенды •  Автоматические проверки и тесты заданий •  Одинаковые среды для всех студентов •  Обучение автоматизации конфигурации сетевого оборудования   •  Быстрый reset / повторный запуск  </vt:lpstr>
      <vt:lpstr>Сравнение с другими продуктами</vt:lpstr>
      <vt:lpstr>Ограничения   •  Не заменяет тестирование на физическом железе •  Необходимость лицензирования vendor-образов •  Потребление CPU/RAM по мере масштабирования •  Ограничения эмуляции ASIC/скоростных характеристик  </vt:lpstr>
      <vt:lpstr>Демонстрация работы</vt:lpstr>
      <vt:lpstr>  Итоги   </vt:lpstr>
      <vt:lpstr>Ответы на вопросы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</dc:title>
  <dc:creator>Ворошкевич И.А</dc:creator>
  <cp:lastModifiedBy>Microsoft Office User</cp:lastModifiedBy>
  <cp:revision>20</cp:revision>
  <dcterms:modified xsi:type="dcterms:W3CDTF">2025-11-10T15:56:06Z</dcterms:modified>
</cp:coreProperties>
</file>